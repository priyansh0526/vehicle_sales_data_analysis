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4" r:id="rId4"/>
    <p:sldId id="259" r:id="rId5"/>
    <p:sldId id="265" r:id="rId6"/>
    <p:sldId id="260" r:id="rId7"/>
    <p:sldId id="266" r:id="rId8"/>
    <p:sldId id="261" r:id="rId9"/>
    <p:sldId id="269" r:id="rId10"/>
    <p:sldId id="267" r:id="rId11"/>
    <p:sldId id="26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yedanwarafridi/vehicle-sales-data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3DDC-6F9A-C2AE-DAA2-371CBFB2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Vehicle Sales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AEC6-688B-45AD-50B7-56BBFF18A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644876"/>
            <a:ext cx="10070689" cy="3539613"/>
          </a:xfrm>
        </p:spPr>
        <p:txBody>
          <a:bodyPr>
            <a:normAutofit fontScale="77500" lnSpcReduction="20000"/>
          </a:bodyPr>
          <a:lstStyle/>
          <a:p>
            <a:r>
              <a:rPr lang="en-IN" sz="3200" dirty="0"/>
              <a:t>Tool Used - Power BI</a:t>
            </a:r>
          </a:p>
          <a:p>
            <a:r>
              <a:rPr lang="en-IN" sz="3200" dirty="0"/>
              <a:t>Dataset - </a:t>
            </a:r>
            <a:r>
              <a:rPr lang="en-IN" sz="3200" dirty="0">
                <a:hlinkClick r:id="rId2"/>
              </a:rPr>
              <a:t>https://www.kaggle.com/datasets/syedanwarafridi/vehicle-sales-data</a:t>
            </a:r>
            <a:endParaRPr lang="en-IN" sz="3200" dirty="0"/>
          </a:p>
          <a:p>
            <a:r>
              <a:rPr lang="en-IN" sz="3200" dirty="0"/>
              <a:t>Records - ~5.5 Lakhs</a:t>
            </a:r>
          </a:p>
          <a:p>
            <a:r>
              <a:rPr lang="en-IN" sz="3200" dirty="0"/>
              <a:t>Domain -  </a:t>
            </a:r>
            <a:r>
              <a:rPr lang="en-IN" sz="3200" dirty="0" err="1"/>
              <a:t>Automobile|Sales|Finance</a:t>
            </a:r>
            <a:endParaRPr lang="en-IN" sz="3200" dirty="0"/>
          </a:p>
          <a:p>
            <a:r>
              <a:rPr lang="en-IN" sz="3200" b="1" dirty="0"/>
              <a:t>Objective </a:t>
            </a:r>
            <a:r>
              <a:rPr lang="en-IN" sz="3200" dirty="0"/>
              <a:t>: </a:t>
            </a:r>
          </a:p>
          <a:p>
            <a:r>
              <a:rPr lang="en-US" sz="3000" dirty="0"/>
              <a:t>To design an </a:t>
            </a:r>
            <a:r>
              <a:rPr lang="en-US" sz="3000" b="1" dirty="0"/>
              <a:t>interactive dashboard</a:t>
            </a:r>
            <a:r>
              <a:rPr lang="en-US" sz="3000" dirty="0"/>
              <a:t> that enables stakeholders to analyze </a:t>
            </a:r>
            <a:r>
              <a:rPr lang="en-US" sz="3000" b="1" dirty="0"/>
              <a:t>sales performance, pricing strategy, and profitability</a:t>
            </a:r>
            <a:r>
              <a:rPr lang="en-US" sz="3000" dirty="0"/>
              <a:t> across brands, regions, and time.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9409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11D20-7E73-CAB6-8118-6F61169793B7}"/>
              </a:ext>
            </a:extLst>
          </p:cNvPr>
          <p:cNvSpPr txBox="1"/>
          <p:nvPr/>
        </p:nvSpPr>
        <p:spPr>
          <a:xfrm>
            <a:off x="953729" y="1032386"/>
            <a:ext cx="10355955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Business Problem Statement</a:t>
            </a:r>
          </a:p>
          <a:p>
            <a:r>
              <a:rPr lang="en-US" sz="2500" dirty="0"/>
              <a:t>The automotive business generates large volumes of sales data, but decision-makers struggle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Track </a:t>
            </a:r>
            <a:r>
              <a:rPr lang="en-US" sz="2500" b="1" dirty="0"/>
              <a:t>overall sales and profit</a:t>
            </a:r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Compare </a:t>
            </a:r>
            <a:r>
              <a:rPr lang="en-US" sz="2500" b="1" dirty="0"/>
              <a:t>selling price vs market value</a:t>
            </a:r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Identify </a:t>
            </a:r>
            <a:r>
              <a:rPr lang="en-US" sz="2500" b="1" dirty="0"/>
              <a:t>top-performing brands and regions</a:t>
            </a:r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Understand </a:t>
            </a:r>
            <a:r>
              <a:rPr lang="en-US" sz="2500" b="1" dirty="0"/>
              <a:t>sales trends over time</a:t>
            </a:r>
          </a:p>
          <a:p>
            <a:endParaRPr lang="en-US" sz="2500" dirty="0"/>
          </a:p>
          <a:p>
            <a:r>
              <a:rPr lang="en-US" sz="3000" b="1" dirty="0"/>
              <a:t>Goal :</a:t>
            </a:r>
          </a:p>
          <a:p>
            <a:r>
              <a:rPr lang="en-US" sz="2500" dirty="0"/>
              <a:t>Convert raw sales data into </a:t>
            </a:r>
            <a:r>
              <a:rPr lang="en-US" sz="2500" b="1" dirty="0"/>
              <a:t>actionable insights</a:t>
            </a:r>
            <a:r>
              <a:rPr lang="en-US" sz="2500" dirty="0"/>
              <a:t> using an interactive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513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5B369-A013-00A3-AD8B-5E8DC137A7DB}"/>
              </a:ext>
            </a:extLst>
          </p:cNvPr>
          <p:cNvSpPr txBox="1"/>
          <p:nvPr/>
        </p:nvSpPr>
        <p:spPr>
          <a:xfrm>
            <a:off x="934065" y="1071716"/>
            <a:ext cx="10333703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/>
              <a:t>Dataset Overview</a:t>
            </a:r>
          </a:p>
          <a:p>
            <a:r>
              <a:rPr lang="en-IN" sz="2500" b="1" dirty="0"/>
              <a:t>Dataset Description</a:t>
            </a:r>
          </a:p>
          <a:p>
            <a:r>
              <a:rPr lang="en-IN" sz="2500" dirty="0"/>
              <a:t>The dataset contains detailed information about car sales transactions, including: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Vehicle details (Make, Model, Body Type)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Pricing information (Selling Price, Market Value)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Location data (State)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Sales date and condition</a:t>
            </a:r>
          </a:p>
          <a:p>
            <a:r>
              <a:rPr lang="en-IN" sz="2500" b="1" dirty="0"/>
              <a:t>Key Columns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Selling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MMR (Market Value)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Sale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Make, Model, Body Type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70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73E416-1CB8-560C-EAEA-73ECCAF93185}"/>
              </a:ext>
            </a:extLst>
          </p:cNvPr>
          <p:cNvSpPr txBox="1"/>
          <p:nvPr/>
        </p:nvSpPr>
        <p:spPr>
          <a:xfrm>
            <a:off x="1101213" y="845574"/>
            <a:ext cx="984209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Data Cleaning &amp; Preparation</a:t>
            </a:r>
          </a:p>
          <a:p>
            <a:r>
              <a:rPr lang="en-US" sz="2500" b="1" dirty="0"/>
              <a:t>Steps Performed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Converted Sale Date to proper date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Removed null values from critical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Changed data types for pricing and mileage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Created derived columns: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500" dirty="0"/>
              <a:t>Year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500" dirty="0"/>
              <a:t>Month</a:t>
            </a:r>
          </a:p>
          <a:p>
            <a:r>
              <a:rPr lang="en-US" sz="2500" dirty="0"/>
              <a:t>Renamed columns for business clarity</a:t>
            </a:r>
          </a:p>
          <a:p>
            <a:r>
              <a:rPr lang="en-US" sz="2500" b="1" dirty="0"/>
              <a:t>Outcome :</a:t>
            </a:r>
          </a:p>
          <a:p>
            <a:r>
              <a:rPr lang="en-US" sz="2500" dirty="0"/>
              <a:t>A </a:t>
            </a:r>
            <a:r>
              <a:rPr lang="en-US" sz="2500" b="1" dirty="0"/>
              <a:t>clean, analysis-ready dataset</a:t>
            </a:r>
            <a:r>
              <a:rPr lang="en-US" sz="2500" dirty="0"/>
              <a:t> suitable for dashboard reporting.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00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7DC63C-4486-B77C-098C-0349F4501D41}"/>
              </a:ext>
            </a:extLst>
          </p:cNvPr>
          <p:cNvSpPr txBox="1"/>
          <p:nvPr/>
        </p:nvSpPr>
        <p:spPr>
          <a:xfrm>
            <a:off x="1170040" y="806245"/>
            <a:ext cx="9527458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Key KPIs Designed</a:t>
            </a:r>
          </a:p>
          <a:p>
            <a:r>
              <a:rPr lang="en-US" sz="2500" b="1" dirty="0"/>
              <a:t>Business KPIs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Total Sales Amount</a:t>
            </a:r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Total Cars Sold</a:t>
            </a:r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Total Market Value</a:t>
            </a:r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Profit</a:t>
            </a:r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Profit Margin %</a:t>
            </a:r>
          </a:p>
          <a:p>
            <a:endParaRPr lang="en-US" sz="2500" dirty="0"/>
          </a:p>
          <a:p>
            <a:r>
              <a:rPr lang="en-US" sz="2500" b="1" dirty="0"/>
              <a:t>Why These KPIs?</a:t>
            </a:r>
          </a:p>
          <a:p>
            <a:r>
              <a:rPr lang="en-US" sz="2500" dirty="0"/>
              <a:t>	These KPIs help stakeholders:</a:t>
            </a:r>
          </a:p>
          <a:p>
            <a:r>
              <a:rPr lang="en-US" sz="2500" dirty="0"/>
              <a:t>		- Measure revenue performance</a:t>
            </a:r>
          </a:p>
          <a:p>
            <a:r>
              <a:rPr lang="en-US" sz="2500" dirty="0"/>
              <a:t>		- Understand pricing effectiveness</a:t>
            </a:r>
          </a:p>
          <a:p>
            <a:r>
              <a:rPr lang="en-US" sz="2500" dirty="0"/>
              <a:t>		- Identify profit or loss trends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28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16CF7-1E8D-59C4-29D3-113767629A21}"/>
              </a:ext>
            </a:extLst>
          </p:cNvPr>
          <p:cNvSpPr txBox="1"/>
          <p:nvPr/>
        </p:nvSpPr>
        <p:spPr>
          <a:xfrm>
            <a:off x="1160206" y="1251284"/>
            <a:ext cx="946846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Dashboard Visuals Overview</a:t>
            </a:r>
          </a:p>
          <a:p>
            <a:r>
              <a:rPr lang="en-US" sz="2500" b="1" dirty="0"/>
              <a:t>Visuals Included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KPI Cards for quick 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Line chart for time-series sales trend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Bar charts for brand and model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Column chart for profit by body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Map visualization for state-wise sales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Interactive slicers for filtering</a:t>
            </a:r>
          </a:p>
          <a:p>
            <a:endParaRPr lang="en-US" sz="2500" dirty="0"/>
          </a:p>
          <a:p>
            <a:r>
              <a:rPr lang="en-US" sz="2500" b="1" dirty="0"/>
              <a:t>Dashboard Type</a:t>
            </a:r>
          </a:p>
          <a:p>
            <a:r>
              <a:rPr lang="en-US" sz="2500" dirty="0"/>
              <a:t>Executive-level, interactive, and insight-driven.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22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90A2D-C126-D2A3-915A-414ADE537E74}"/>
              </a:ext>
            </a:extLst>
          </p:cNvPr>
          <p:cNvSpPr txBox="1"/>
          <p:nvPr/>
        </p:nvSpPr>
        <p:spPr>
          <a:xfrm>
            <a:off x="1189703" y="1307690"/>
            <a:ext cx="978309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Time-Series Analysis</a:t>
            </a:r>
          </a:p>
          <a:p>
            <a:r>
              <a:rPr lang="en-US" sz="2500" b="1" dirty="0"/>
              <a:t>Sales Trend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Monthly and yearly sales trends displayed.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Helps identify: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500" dirty="0"/>
              <a:t>Seasonal patterns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500" dirty="0"/>
              <a:t>Growth or decline periods</a:t>
            </a:r>
          </a:p>
          <a:p>
            <a:pPr lvl="1"/>
            <a:endParaRPr lang="en-US" sz="2500" dirty="0"/>
          </a:p>
          <a:p>
            <a:r>
              <a:rPr lang="en-US" sz="2500" b="1" dirty="0"/>
              <a:t>Business Value</a:t>
            </a:r>
          </a:p>
          <a:p>
            <a:r>
              <a:rPr lang="en-US" sz="2500" dirty="0"/>
              <a:t>Supports </a:t>
            </a:r>
            <a:r>
              <a:rPr lang="en-US" sz="2500" b="1" dirty="0"/>
              <a:t>forecasting and strategic planning.</a:t>
            </a:r>
            <a:endParaRPr lang="en-US" sz="25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69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755CAB-02BB-BBDA-26CC-E40FC752FDCD}"/>
              </a:ext>
            </a:extLst>
          </p:cNvPr>
          <p:cNvSpPr txBox="1"/>
          <p:nvPr/>
        </p:nvSpPr>
        <p:spPr>
          <a:xfrm>
            <a:off x="1214284" y="1089898"/>
            <a:ext cx="976343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Brand &amp; Product Performance</a:t>
            </a:r>
          </a:p>
          <a:p>
            <a:r>
              <a:rPr lang="en-US" sz="2500" b="1" dirty="0"/>
              <a:t>Insights Provided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Top car brands by total sales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Best-selling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Profit contribution by body type (SUV, Sedan, etc.)</a:t>
            </a:r>
          </a:p>
          <a:p>
            <a:endParaRPr lang="en-US" sz="2500" dirty="0"/>
          </a:p>
          <a:p>
            <a:r>
              <a:rPr lang="en-US" sz="2500" b="1" dirty="0"/>
              <a:t>Business Impact</a:t>
            </a:r>
          </a:p>
          <a:p>
            <a:r>
              <a:rPr lang="en-US" sz="2500" dirty="0"/>
              <a:t>Helps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Inventory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Product focus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Marketing prioritization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295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88E6D-168D-94FB-A9CD-16F5470FD20B}"/>
              </a:ext>
            </a:extLst>
          </p:cNvPr>
          <p:cNvSpPr txBox="1"/>
          <p:nvPr/>
        </p:nvSpPr>
        <p:spPr>
          <a:xfrm>
            <a:off x="1150374" y="1150374"/>
            <a:ext cx="9773266" cy="4790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Interactivity Features</a:t>
            </a:r>
          </a:p>
          <a:p>
            <a:r>
              <a:rPr lang="en-US" sz="2500" b="1" dirty="0"/>
              <a:t>Slicers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Sale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Body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Transmission</a:t>
            </a:r>
          </a:p>
          <a:p>
            <a:endParaRPr lang="en-US" sz="2500" dirty="0"/>
          </a:p>
          <a:p>
            <a:r>
              <a:rPr lang="en-US" sz="2500" b="1" dirty="0"/>
              <a:t>Benefit</a:t>
            </a:r>
          </a:p>
          <a:p>
            <a:r>
              <a:rPr lang="en-US" sz="2500" dirty="0"/>
              <a:t>Users can dynamically filter data and view insights </a:t>
            </a:r>
            <a:r>
              <a:rPr lang="en-US" sz="2500" b="1" dirty="0"/>
              <a:t>in real time</a:t>
            </a:r>
            <a:r>
              <a:rPr lang="en-US" sz="2500" dirty="0"/>
              <a:t> without technical knowledge.</a:t>
            </a:r>
          </a:p>
          <a:p>
            <a:endParaRPr lang="en-IN" sz="2500" dirty="0"/>
          </a:p>
          <a:p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46379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BCAAA-A32B-B06D-6F84-3C35B4E0D099}"/>
              </a:ext>
            </a:extLst>
          </p:cNvPr>
          <p:cNvSpPr txBox="1"/>
          <p:nvPr/>
        </p:nvSpPr>
        <p:spPr>
          <a:xfrm>
            <a:off x="973394" y="1267325"/>
            <a:ext cx="90421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Key Business Insights (Example)</a:t>
            </a:r>
          </a:p>
          <a:p>
            <a:pPr algn="ctr"/>
            <a:endParaRPr lang="en-US" sz="3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Certain brands consistently outperform others in sales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SUVs generate higher profit margins compared to sedans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Some states show negative profit trends indicating pricing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Sales peak during specific months, showing seasonality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58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9270D-D770-1A29-9121-22FE95E67526}"/>
              </a:ext>
            </a:extLst>
          </p:cNvPr>
          <p:cNvSpPr txBox="1"/>
          <p:nvPr/>
        </p:nvSpPr>
        <p:spPr>
          <a:xfrm>
            <a:off x="1189703" y="924233"/>
            <a:ext cx="9075174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Business Impact &amp; Value</a:t>
            </a:r>
          </a:p>
          <a:p>
            <a:r>
              <a:rPr lang="en-US" sz="2500" b="1" dirty="0"/>
              <a:t>How This Dashboard Helps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Faster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Clear visibility into pricing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Identification of profit and loss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Improved strategic planning</a:t>
            </a:r>
          </a:p>
          <a:p>
            <a:endParaRPr lang="en-US" sz="2500" dirty="0"/>
          </a:p>
          <a:p>
            <a:r>
              <a:rPr lang="en-US" sz="2500" b="1" dirty="0"/>
              <a:t>Target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Business 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Sales managers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Pricing analysts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Executives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16456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300D7C-6695-21E4-15C9-1399810980A1}"/>
              </a:ext>
            </a:extLst>
          </p:cNvPr>
          <p:cNvSpPr txBox="1"/>
          <p:nvPr/>
        </p:nvSpPr>
        <p:spPr>
          <a:xfrm>
            <a:off x="1150374" y="1106905"/>
            <a:ext cx="9674942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Conclusion</a:t>
            </a:r>
          </a:p>
          <a:p>
            <a:r>
              <a:rPr lang="en-US" sz="2500" dirty="0"/>
              <a:t>This Power BI dashboard successfully transforms raw car sales data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Meaningful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Interactive visuals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Actionable business insights</a:t>
            </a:r>
          </a:p>
          <a:p>
            <a:endParaRPr lang="en-US" sz="2500" dirty="0"/>
          </a:p>
          <a:p>
            <a:r>
              <a:rPr lang="en-US" sz="2500" dirty="0"/>
              <a:t>It demonstrates </a:t>
            </a:r>
            <a:r>
              <a:rPr lang="en-US" sz="2500" b="1" dirty="0"/>
              <a:t>real-world Power BI skills</a:t>
            </a:r>
            <a:r>
              <a:rPr lang="en-US" sz="2500" dirty="0"/>
              <a:t>, including data modeling, DAX, visualization, and business storytelling.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963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161</TotalTime>
  <Words>534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Garamond</vt:lpstr>
      <vt:lpstr>Wingdings</vt:lpstr>
      <vt:lpstr>Organic</vt:lpstr>
      <vt:lpstr>Vehicle Sales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Nanhe Priyanshu</dc:creator>
  <cp:lastModifiedBy>Nanhe Priyanshu</cp:lastModifiedBy>
  <cp:revision>1</cp:revision>
  <dcterms:created xsi:type="dcterms:W3CDTF">2025-12-16T09:48:49Z</dcterms:created>
  <dcterms:modified xsi:type="dcterms:W3CDTF">2025-12-16T12:30:29Z</dcterms:modified>
</cp:coreProperties>
</file>